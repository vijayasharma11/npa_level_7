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371D89-B369-4DB8-A6BC-78746BB1BB9B}"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1811333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371D89-B369-4DB8-A6BC-78746BB1BB9B}"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3874497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371D89-B369-4DB8-A6BC-78746BB1BB9B}"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14451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8371D89-B369-4DB8-A6BC-78746BB1BB9B}" type="datetimeFigureOut">
              <a:rPr lang="en-GB" smtClean="0"/>
              <a:t>17/01/2025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1439708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8371D89-B369-4DB8-A6BC-78746BB1BB9B}" type="datetimeFigureOut">
              <a:rPr lang="en-GB" smtClean="0"/>
              <a:t>17/01/2025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3047359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8371D89-B369-4DB8-A6BC-78746BB1BB9B}" type="datetimeFigureOut">
              <a:rPr lang="en-GB" smtClean="0"/>
              <a:t>17/01/2025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1333152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371D89-B369-4DB8-A6BC-78746BB1BB9B}" type="datetimeFigureOut">
              <a:rPr lang="en-GB" smtClean="0"/>
              <a:t>17/01/2025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1010080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371D89-B369-4DB8-A6BC-78746BB1BB9B}" type="datetimeFigureOut">
              <a:rPr lang="en-GB" smtClean="0"/>
              <a:t>17/01/2025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466849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371D89-B369-4DB8-A6BC-78746BB1BB9B}" type="datetimeFigureOut">
              <a:rPr lang="en-GB" smtClean="0"/>
              <a:t>17/01/2025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3355686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371D89-B369-4DB8-A6BC-78746BB1BB9B}"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2148583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371D89-B369-4DB8-A6BC-78746BB1BB9B}"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803797-1E02-451A-BF55-E14B302092A4}"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09985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371D89-B369-4DB8-A6BC-78746BB1BB9B}"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2526665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371D89-B369-4DB8-A6BC-78746BB1BB9B}"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803797-1E02-451A-BF55-E14B302092A4}"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50604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371D89-B369-4DB8-A6BC-78746BB1BB9B}"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35787202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371D89-B369-4DB8-A6BC-78746BB1BB9B}"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2240741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371D89-B369-4DB8-A6BC-78746BB1BB9B}"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803797-1E02-451A-BF55-E14B302092A4}" type="slidenum">
              <a:rPr lang="en-GB" smtClean="0"/>
              <a:t>‹#›</a:t>
            </a:fld>
            <a:endParaRPr lang="en-GB"/>
          </a:p>
        </p:txBody>
      </p:sp>
    </p:spTree>
    <p:extLst>
      <p:ext uri="{BB962C8B-B14F-4D97-AF65-F5344CB8AC3E}">
        <p14:creationId xmlns:p14="http://schemas.microsoft.com/office/powerpoint/2010/main" val="2454561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8371D89-B369-4DB8-A6BC-78746BB1BB9B}" type="datetimeFigureOut">
              <a:rPr lang="en-GB" smtClean="0"/>
              <a:t>17/01/2025</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0803797-1E02-451A-BF55-E14B302092A4}" type="slidenum">
              <a:rPr lang="en-GB" smtClean="0"/>
              <a:t>‹#›</a:t>
            </a:fld>
            <a:endParaRPr lang="en-GB"/>
          </a:p>
        </p:txBody>
      </p:sp>
    </p:spTree>
    <p:extLst>
      <p:ext uri="{BB962C8B-B14F-4D97-AF65-F5344CB8AC3E}">
        <p14:creationId xmlns:p14="http://schemas.microsoft.com/office/powerpoint/2010/main" val="21852893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16B3B-4AA2-D0D1-BD58-C1C16FB66CD2}"/>
              </a:ext>
            </a:extLst>
          </p:cNvPr>
          <p:cNvSpPr>
            <a:spLocks noGrp="1"/>
          </p:cNvSpPr>
          <p:nvPr>
            <p:ph type="title"/>
          </p:nvPr>
        </p:nvSpPr>
        <p:spPr>
          <a:xfrm>
            <a:off x="838200" y="365125"/>
            <a:ext cx="10515600" cy="5837712"/>
          </a:xfrm>
        </p:spPr>
        <p:txBody>
          <a:bodyPr/>
          <a:lstStyle/>
          <a:p>
            <a:r>
              <a:rPr lang="en-GB" dirty="0">
                <a:solidFill>
                  <a:schemeClr val="accent2">
                    <a:lumMod val="20000"/>
                    <a:lumOff val="80000"/>
                  </a:schemeClr>
                </a:solidFill>
              </a:rPr>
              <a:t>        </a:t>
            </a:r>
            <a:br>
              <a:rPr lang="en-GB" dirty="0">
                <a:solidFill>
                  <a:schemeClr val="accent2">
                    <a:lumMod val="20000"/>
                    <a:lumOff val="80000"/>
                  </a:schemeClr>
                </a:solidFill>
              </a:rPr>
            </a:br>
            <a:br>
              <a:rPr lang="en-GB" dirty="0">
                <a:solidFill>
                  <a:schemeClr val="accent2">
                    <a:lumMod val="20000"/>
                    <a:lumOff val="80000"/>
                  </a:schemeClr>
                </a:solidFill>
              </a:rPr>
            </a:br>
            <a:br>
              <a:rPr lang="en-GB" dirty="0">
                <a:solidFill>
                  <a:schemeClr val="accent2">
                    <a:lumMod val="20000"/>
                    <a:lumOff val="80000"/>
                  </a:schemeClr>
                </a:solidFill>
              </a:rPr>
            </a:br>
            <a:br>
              <a:rPr lang="en-GB" dirty="0">
                <a:solidFill>
                  <a:schemeClr val="accent2">
                    <a:lumMod val="20000"/>
                    <a:lumOff val="80000"/>
                  </a:schemeClr>
                </a:solidFill>
              </a:rPr>
            </a:br>
            <a:r>
              <a:rPr lang="en-GB" dirty="0">
                <a:solidFill>
                  <a:schemeClr val="accent2">
                    <a:lumMod val="20000"/>
                    <a:lumOff val="80000"/>
                  </a:schemeClr>
                </a:solidFill>
              </a:rPr>
              <a:t>         </a:t>
            </a:r>
            <a:r>
              <a:rPr lang="en-GB" b="1" dirty="0">
                <a:solidFill>
                  <a:schemeClr val="tx1"/>
                </a:solidFill>
              </a:rPr>
              <a:t>Non-Agile vs. Agile Methodologies</a:t>
            </a:r>
          </a:p>
        </p:txBody>
      </p:sp>
    </p:spTree>
    <p:extLst>
      <p:ext uri="{BB962C8B-B14F-4D97-AF65-F5344CB8AC3E}">
        <p14:creationId xmlns:p14="http://schemas.microsoft.com/office/powerpoint/2010/main" val="3127721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E402D-E197-6F5D-BC21-3F08B514F8C3}"/>
              </a:ext>
            </a:extLst>
          </p:cNvPr>
          <p:cNvSpPr>
            <a:spLocks noGrp="1"/>
          </p:cNvSpPr>
          <p:nvPr>
            <p:ph type="title"/>
          </p:nvPr>
        </p:nvSpPr>
        <p:spPr>
          <a:xfrm>
            <a:off x="838200" y="365125"/>
            <a:ext cx="10515600" cy="1953869"/>
          </a:xfrm>
        </p:spPr>
        <p:txBody>
          <a:bodyPr>
            <a:normAutofit fontScale="90000"/>
          </a:bodyPr>
          <a:lstStyle/>
          <a:p>
            <a:br>
              <a:rPr lang="en-GB" dirty="0"/>
            </a:br>
            <a:br>
              <a:rPr lang="en-GB" dirty="0"/>
            </a:br>
            <a:br>
              <a:rPr lang="en-GB" dirty="0"/>
            </a:br>
            <a:br>
              <a:rPr lang="en-GB" dirty="0"/>
            </a:br>
            <a:endParaRPr lang="en-GB" dirty="0"/>
          </a:p>
        </p:txBody>
      </p:sp>
      <p:sp>
        <p:nvSpPr>
          <p:cNvPr id="4" name="TextBox 3">
            <a:extLst>
              <a:ext uri="{FF2B5EF4-FFF2-40B4-BE49-F238E27FC236}">
                <a16:creationId xmlns:a16="http://schemas.microsoft.com/office/drawing/2014/main" id="{78F27520-B2EA-A537-8368-80AEF35C3871}"/>
              </a:ext>
            </a:extLst>
          </p:cNvPr>
          <p:cNvSpPr txBox="1"/>
          <p:nvPr/>
        </p:nvSpPr>
        <p:spPr>
          <a:xfrm>
            <a:off x="499620" y="365125"/>
            <a:ext cx="11180189" cy="3539430"/>
          </a:xfrm>
          <a:prstGeom prst="rect">
            <a:avLst/>
          </a:prstGeom>
          <a:noFill/>
        </p:spPr>
        <p:txBody>
          <a:bodyPr wrap="square">
            <a:spAutoFit/>
          </a:bodyPr>
          <a:lstStyle/>
          <a:p>
            <a:r>
              <a:rPr lang="en-GB" sz="3200" dirty="0"/>
              <a:t>Non-Agile Methodology (Waterfall):</a:t>
            </a:r>
          </a:p>
          <a:p>
            <a:endParaRPr lang="en-GB" sz="3200" dirty="0"/>
          </a:p>
          <a:p>
            <a:r>
              <a:rPr lang="en-GB" sz="3200" dirty="0"/>
              <a:t>The non-agile methodology, also known as the Waterfall model, is a traditional project management approach. It is linear and sequential, meaning each phase of the project (e.g., requirements gathering, design, development, testing, and deployment) must be completed before moving on to the next one.</a:t>
            </a:r>
          </a:p>
        </p:txBody>
      </p:sp>
    </p:spTree>
    <p:extLst>
      <p:ext uri="{BB962C8B-B14F-4D97-AF65-F5344CB8AC3E}">
        <p14:creationId xmlns:p14="http://schemas.microsoft.com/office/powerpoint/2010/main" val="4125986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57E15-9A15-B76B-A5F2-0384EB2DAA4E}"/>
              </a:ext>
            </a:extLst>
          </p:cNvPr>
          <p:cNvSpPr>
            <a:spLocks noGrp="1"/>
          </p:cNvSpPr>
          <p:nvPr>
            <p:ph type="title"/>
          </p:nvPr>
        </p:nvSpPr>
        <p:spPr>
          <a:xfrm>
            <a:off x="489408" y="600795"/>
            <a:ext cx="10515600" cy="5196689"/>
          </a:xfrm>
        </p:spPr>
        <p:txBody>
          <a:bodyPr>
            <a:normAutofit/>
          </a:bodyPr>
          <a:lstStyle/>
          <a:p>
            <a:r>
              <a:rPr lang="en-GB" sz="3200" b="1" dirty="0">
                <a:solidFill>
                  <a:schemeClr val="tx1"/>
                </a:solidFill>
                <a:latin typeface="Times New Roman" panose="02020603050405020304" pitchFamily="18" charset="0"/>
                <a:cs typeface="Times New Roman" panose="02020603050405020304" pitchFamily="18" charset="0"/>
              </a:rPr>
              <a:t>Key Characteristics:</a:t>
            </a:r>
            <a:br>
              <a:rPr lang="en-GB" sz="3200" b="1" dirty="0">
                <a:solidFill>
                  <a:schemeClr val="tx1"/>
                </a:solidFill>
                <a:latin typeface="Times New Roman" panose="02020603050405020304" pitchFamily="18" charset="0"/>
                <a:cs typeface="Times New Roman" panose="02020603050405020304" pitchFamily="18" charset="0"/>
              </a:rPr>
            </a:br>
            <a:br>
              <a:rPr lang="en-GB" sz="3200" dirty="0">
                <a:solidFill>
                  <a:schemeClr val="tx1"/>
                </a:solidFill>
                <a:latin typeface="Times New Roman" panose="02020603050405020304" pitchFamily="18" charset="0"/>
                <a:cs typeface="Times New Roman" panose="02020603050405020304" pitchFamily="18" charset="0"/>
              </a:rPr>
            </a:br>
            <a:r>
              <a:rPr lang="en-GB" sz="3200" dirty="0">
                <a:solidFill>
                  <a:schemeClr val="tx1"/>
                </a:solidFill>
                <a:latin typeface="Times New Roman" panose="02020603050405020304" pitchFamily="18" charset="0"/>
                <a:cs typeface="Times New Roman" panose="02020603050405020304" pitchFamily="18" charset="0"/>
              </a:rPr>
              <a:t>Fixed scope and requirements at the beginning of the project.</a:t>
            </a:r>
            <a:br>
              <a:rPr lang="en-GB" sz="3200" dirty="0">
                <a:solidFill>
                  <a:schemeClr val="tx1"/>
                </a:solidFill>
                <a:latin typeface="Times New Roman" panose="02020603050405020304" pitchFamily="18" charset="0"/>
                <a:cs typeface="Times New Roman" panose="02020603050405020304" pitchFamily="18" charset="0"/>
              </a:rPr>
            </a:br>
            <a:r>
              <a:rPr lang="en-GB" sz="3200" dirty="0">
                <a:solidFill>
                  <a:schemeClr val="tx1"/>
                </a:solidFill>
                <a:latin typeface="Times New Roman" panose="02020603050405020304" pitchFamily="18" charset="0"/>
                <a:cs typeface="Times New Roman" panose="02020603050405020304" pitchFamily="18" charset="0"/>
              </a:rPr>
              <a:t>Limited flexibility for changes once the project is underway.</a:t>
            </a:r>
            <a:br>
              <a:rPr lang="en-GB" sz="3200" dirty="0">
                <a:solidFill>
                  <a:schemeClr val="tx1"/>
                </a:solidFill>
                <a:latin typeface="Times New Roman" panose="02020603050405020304" pitchFamily="18" charset="0"/>
                <a:cs typeface="Times New Roman" panose="02020603050405020304" pitchFamily="18" charset="0"/>
              </a:rPr>
            </a:br>
            <a:r>
              <a:rPr lang="en-GB" sz="3200" dirty="0">
                <a:solidFill>
                  <a:schemeClr val="tx1"/>
                </a:solidFill>
                <a:latin typeface="Times New Roman" panose="02020603050405020304" pitchFamily="18" charset="0"/>
                <a:cs typeface="Times New Roman" panose="02020603050405020304" pitchFamily="18" charset="0"/>
              </a:rPr>
              <a:t>Progress is measured at the end of each phase.</a:t>
            </a:r>
          </a:p>
        </p:txBody>
      </p:sp>
    </p:spTree>
    <p:extLst>
      <p:ext uri="{BB962C8B-B14F-4D97-AF65-F5344CB8AC3E}">
        <p14:creationId xmlns:p14="http://schemas.microsoft.com/office/powerpoint/2010/main" val="4245539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1A296-63E7-BA23-55BD-4AE8EE270A5F}"/>
              </a:ext>
            </a:extLst>
          </p:cNvPr>
          <p:cNvSpPr>
            <a:spLocks noGrp="1"/>
          </p:cNvSpPr>
          <p:nvPr>
            <p:ph type="title"/>
          </p:nvPr>
        </p:nvSpPr>
        <p:spPr>
          <a:xfrm>
            <a:off x="677334" y="609600"/>
            <a:ext cx="8596668" cy="5366994"/>
          </a:xfrm>
        </p:spPr>
        <p:txBody>
          <a:bodyPr>
            <a:normAutofit/>
          </a:bodyPr>
          <a:lstStyle/>
          <a:p>
            <a:r>
              <a:rPr lang="en-GB" sz="3200" dirty="0">
                <a:solidFill>
                  <a:schemeClr val="tx1"/>
                </a:solidFill>
              </a:rPr>
              <a:t>Agile Methodology:</a:t>
            </a:r>
            <a:br>
              <a:rPr lang="en-GB" sz="3200" dirty="0">
                <a:solidFill>
                  <a:schemeClr val="tx1"/>
                </a:solidFill>
              </a:rPr>
            </a:br>
            <a:br>
              <a:rPr lang="en-GB" sz="3200" dirty="0">
                <a:solidFill>
                  <a:schemeClr val="tx1"/>
                </a:solidFill>
              </a:rPr>
            </a:br>
            <a:r>
              <a:rPr lang="en-GB" sz="3200" dirty="0">
                <a:solidFill>
                  <a:schemeClr val="tx1"/>
                </a:solidFill>
              </a:rPr>
              <a:t>The agile methodology is an iterative and incremental approach to project management, particularly in software development. It focuses on flexibility, collaboration, and customer feedback, allowing teams to adapt to changes more easily.</a:t>
            </a:r>
          </a:p>
        </p:txBody>
      </p:sp>
    </p:spTree>
    <p:extLst>
      <p:ext uri="{BB962C8B-B14F-4D97-AF65-F5344CB8AC3E}">
        <p14:creationId xmlns:p14="http://schemas.microsoft.com/office/powerpoint/2010/main" val="1723646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E8D4B-D172-4E5B-4524-4CE27FE41F26}"/>
              </a:ext>
            </a:extLst>
          </p:cNvPr>
          <p:cNvSpPr>
            <a:spLocks noGrp="1"/>
          </p:cNvSpPr>
          <p:nvPr>
            <p:ph type="title"/>
          </p:nvPr>
        </p:nvSpPr>
        <p:spPr>
          <a:xfrm>
            <a:off x="677334" y="609600"/>
            <a:ext cx="8596668" cy="5112470"/>
          </a:xfrm>
        </p:spPr>
        <p:txBody>
          <a:bodyPr>
            <a:normAutofit fontScale="90000"/>
          </a:bodyPr>
          <a:lstStyle/>
          <a:p>
            <a:r>
              <a:rPr lang="en-GB" sz="3600" b="1" dirty="0">
                <a:solidFill>
                  <a:schemeClr val="tx1"/>
                </a:solidFill>
              </a:rPr>
              <a:t>Key Characteristics:</a:t>
            </a:r>
            <a:br>
              <a:rPr lang="en-GB" sz="3600" b="1" dirty="0">
                <a:solidFill>
                  <a:schemeClr val="tx1"/>
                </a:solidFill>
              </a:rPr>
            </a:br>
            <a:br>
              <a:rPr lang="en-GB" sz="3600" b="1" dirty="0">
                <a:solidFill>
                  <a:schemeClr val="tx1"/>
                </a:solidFill>
              </a:rPr>
            </a:br>
            <a:r>
              <a:rPr lang="en-GB" sz="3600" dirty="0">
                <a:solidFill>
                  <a:schemeClr val="tx1"/>
                </a:solidFill>
              </a:rPr>
              <a:t>Work is divided into smaller, manageable chunks called sprints or iterations.</a:t>
            </a:r>
            <a:br>
              <a:rPr lang="en-GB" sz="3600" dirty="0">
                <a:solidFill>
                  <a:schemeClr val="tx1"/>
                </a:solidFill>
              </a:rPr>
            </a:br>
            <a:r>
              <a:rPr lang="en-GB" sz="3600" dirty="0">
                <a:solidFill>
                  <a:schemeClr val="tx1"/>
                </a:solidFill>
              </a:rPr>
              <a:t>Continuous collaboration with stakeholders and frequent adjustments based on feedback.</a:t>
            </a:r>
            <a:br>
              <a:rPr lang="en-GB" sz="3600" dirty="0">
                <a:solidFill>
                  <a:schemeClr val="tx1"/>
                </a:solidFill>
              </a:rPr>
            </a:br>
            <a:r>
              <a:rPr lang="en-GB" sz="3600" dirty="0">
                <a:solidFill>
                  <a:schemeClr val="tx1"/>
                </a:solidFill>
              </a:rPr>
              <a:t>Emphasizes delivering functional software regularly, often every few weeks</a:t>
            </a:r>
            <a:r>
              <a:rPr lang="en-GB" sz="3600" dirty="0"/>
              <a:t>.</a:t>
            </a:r>
          </a:p>
        </p:txBody>
      </p:sp>
    </p:spTree>
    <p:extLst>
      <p:ext uri="{BB962C8B-B14F-4D97-AF65-F5344CB8AC3E}">
        <p14:creationId xmlns:p14="http://schemas.microsoft.com/office/powerpoint/2010/main" val="1138172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212BB-FE24-1D4F-A715-0BA7665C4743}"/>
              </a:ext>
            </a:extLst>
          </p:cNvPr>
          <p:cNvSpPr>
            <a:spLocks noGrp="1"/>
          </p:cNvSpPr>
          <p:nvPr>
            <p:ph type="title"/>
          </p:nvPr>
        </p:nvSpPr>
        <p:spPr/>
        <p:txBody>
          <a:bodyPr/>
          <a:lstStyle/>
          <a:p>
            <a:r>
              <a:rPr lang="en-GB" dirty="0"/>
              <a:t>Key Differences:</a:t>
            </a:r>
          </a:p>
        </p:txBody>
      </p:sp>
      <p:graphicFrame>
        <p:nvGraphicFramePr>
          <p:cNvPr id="3" name="Table 2">
            <a:extLst>
              <a:ext uri="{FF2B5EF4-FFF2-40B4-BE49-F238E27FC236}">
                <a16:creationId xmlns:a16="http://schemas.microsoft.com/office/drawing/2014/main" id="{09BEAD73-D2E8-058E-91A5-78BDC73FEF9C}"/>
              </a:ext>
            </a:extLst>
          </p:cNvPr>
          <p:cNvGraphicFramePr>
            <a:graphicFrameLocks noGrp="1"/>
          </p:cNvGraphicFramePr>
          <p:nvPr>
            <p:extLst>
              <p:ext uri="{D42A27DB-BD31-4B8C-83A1-F6EECF244321}">
                <p14:modId xmlns:p14="http://schemas.microsoft.com/office/powerpoint/2010/main" val="2601782181"/>
              </p:ext>
            </p:extLst>
          </p:nvPr>
        </p:nvGraphicFramePr>
        <p:xfrm>
          <a:off x="424206" y="1357460"/>
          <a:ext cx="10737132" cy="4086519"/>
        </p:xfrm>
        <a:graphic>
          <a:graphicData uri="http://schemas.openxmlformats.org/drawingml/2006/table">
            <a:tbl>
              <a:tblPr firstRow="1" bandRow="1">
                <a:tableStyleId>{F5AB1C69-6EDB-4FF4-983F-18BD219EF322}</a:tableStyleId>
              </a:tblPr>
              <a:tblGrid>
                <a:gridCol w="3579044">
                  <a:extLst>
                    <a:ext uri="{9D8B030D-6E8A-4147-A177-3AD203B41FA5}">
                      <a16:colId xmlns:a16="http://schemas.microsoft.com/office/drawing/2014/main" val="3452661257"/>
                    </a:ext>
                  </a:extLst>
                </a:gridCol>
                <a:gridCol w="3579044">
                  <a:extLst>
                    <a:ext uri="{9D8B030D-6E8A-4147-A177-3AD203B41FA5}">
                      <a16:colId xmlns:a16="http://schemas.microsoft.com/office/drawing/2014/main" val="4268258248"/>
                    </a:ext>
                  </a:extLst>
                </a:gridCol>
                <a:gridCol w="3579044">
                  <a:extLst>
                    <a:ext uri="{9D8B030D-6E8A-4147-A177-3AD203B41FA5}">
                      <a16:colId xmlns:a16="http://schemas.microsoft.com/office/drawing/2014/main" val="3737184759"/>
                    </a:ext>
                  </a:extLst>
                </a:gridCol>
              </a:tblGrid>
              <a:tr h="575035">
                <a:tc>
                  <a:txBody>
                    <a:bodyPr/>
                    <a:lstStyle/>
                    <a:p>
                      <a:endParaRPr lang="en-GB" dirty="0"/>
                    </a:p>
                    <a:p>
                      <a:endParaRPr lang="en-GB" dirty="0"/>
                    </a:p>
                  </a:txBody>
                  <a:tcPr/>
                </a:tc>
                <a:tc>
                  <a:txBody>
                    <a:bodyPr/>
                    <a:lstStyle/>
                    <a:p>
                      <a:r>
                        <a:rPr lang="en-GB" dirty="0"/>
                        <a:t>                            Agile</a:t>
                      </a:r>
                    </a:p>
                  </a:txBody>
                  <a:tcPr/>
                </a:tc>
                <a:tc>
                  <a:txBody>
                    <a:bodyPr/>
                    <a:lstStyle/>
                    <a:p>
                      <a:r>
                        <a:rPr lang="en-GB" dirty="0"/>
                        <a:t>                  Non-Agile</a:t>
                      </a:r>
                    </a:p>
                  </a:txBody>
                  <a:tcPr/>
                </a:tc>
                <a:extLst>
                  <a:ext uri="{0D108BD9-81ED-4DB2-BD59-A6C34878D82A}">
                    <a16:rowId xmlns:a16="http://schemas.microsoft.com/office/drawing/2014/main" val="517723355"/>
                  </a:ext>
                </a:extLst>
              </a:tr>
              <a:tr h="1160439">
                <a:tc>
                  <a:txBody>
                    <a:bodyPr/>
                    <a:lstStyle/>
                    <a:p>
                      <a:r>
                        <a:rPr lang="en-GB" dirty="0"/>
                        <a:t>Flexibility</a:t>
                      </a:r>
                    </a:p>
                  </a:txBody>
                  <a:tcPr/>
                </a:tc>
                <a:tc>
                  <a:txBody>
                    <a:bodyPr/>
                    <a:lstStyle/>
                    <a:p>
                      <a:r>
                        <a:rPr lang="en-GB" dirty="0"/>
                        <a:t>Agile allows for changes and improvements during the development process.</a:t>
                      </a:r>
                    </a:p>
                  </a:txBody>
                  <a:tcPr/>
                </a:tc>
                <a:tc>
                  <a:txBody>
                    <a:bodyPr/>
                    <a:lstStyle/>
                    <a:p>
                      <a:r>
                        <a:rPr lang="en-GB" dirty="0"/>
                        <a:t>non-agile is more rigid, with changes being difficult once the project is underway.</a:t>
                      </a:r>
                    </a:p>
                  </a:txBody>
                  <a:tcPr/>
                </a:tc>
                <a:extLst>
                  <a:ext uri="{0D108BD9-81ED-4DB2-BD59-A6C34878D82A}">
                    <a16:rowId xmlns:a16="http://schemas.microsoft.com/office/drawing/2014/main" val="2327492549"/>
                  </a:ext>
                </a:extLst>
              </a:tr>
              <a:tr h="1188507">
                <a:tc>
                  <a:txBody>
                    <a:bodyPr/>
                    <a:lstStyle/>
                    <a:p>
                      <a:r>
                        <a:rPr lang="en-GB" dirty="0"/>
                        <a:t>Project Phases</a:t>
                      </a:r>
                    </a:p>
                  </a:txBody>
                  <a:tcPr/>
                </a:tc>
                <a:tc rowSpan="2">
                  <a:txBody>
                    <a:bodyPr/>
                    <a:lstStyle/>
                    <a:p>
                      <a:r>
                        <a:rPr lang="en-GB" dirty="0"/>
                        <a:t>Agile operates in overlapping, iterative cycles.</a:t>
                      </a:r>
                    </a:p>
                    <a:p>
                      <a:endParaRPr lang="en-GB" dirty="0"/>
                    </a:p>
                    <a:p>
                      <a:endParaRPr lang="en-GB" dirty="0"/>
                    </a:p>
                    <a:p>
                      <a:r>
                        <a:rPr lang="en-GB" dirty="0"/>
                        <a:t>Agile encourages continuous stakeholder feedback throughout the projectiles.</a:t>
                      </a:r>
                    </a:p>
                  </a:txBody>
                  <a:tcPr/>
                </a:tc>
                <a:tc rowSpan="2">
                  <a:txBody>
                    <a:bodyPr/>
                    <a:lstStyle/>
                    <a:p>
                      <a:r>
                        <a:rPr lang="en-GB" dirty="0"/>
                        <a:t>Non-agile follows a strict sequence of phases.</a:t>
                      </a:r>
                    </a:p>
                    <a:p>
                      <a:endParaRPr lang="en-GB" dirty="0"/>
                    </a:p>
                    <a:p>
                      <a:endParaRPr lang="en-GB" dirty="0"/>
                    </a:p>
                    <a:p>
                      <a:r>
                        <a:rPr lang="en-GB" dirty="0"/>
                        <a:t>Non-agile generally involves stakeholders mainly at the beginning and end.</a:t>
                      </a:r>
                    </a:p>
                    <a:p>
                      <a:endParaRPr lang="en-GB" dirty="0"/>
                    </a:p>
                  </a:txBody>
                  <a:tcPr/>
                </a:tc>
                <a:extLst>
                  <a:ext uri="{0D108BD9-81ED-4DB2-BD59-A6C34878D82A}">
                    <a16:rowId xmlns:a16="http://schemas.microsoft.com/office/drawing/2014/main" val="1184259763"/>
                  </a:ext>
                </a:extLst>
              </a:tr>
              <a:tr h="888864">
                <a:tc>
                  <a:txBody>
                    <a:bodyPr/>
                    <a:lstStyle/>
                    <a:p>
                      <a:r>
                        <a:rPr lang="en-GB" dirty="0"/>
                        <a:t>Stakeholder Involvement</a:t>
                      </a:r>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353769660"/>
                  </a:ext>
                </a:extLst>
              </a:tr>
            </a:tbl>
          </a:graphicData>
        </a:graphic>
      </p:graphicFrame>
    </p:spTree>
    <p:extLst>
      <p:ext uri="{BB962C8B-B14F-4D97-AF65-F5344CB8AC3E}">
        <p14:creationId xmlns:p14="http://schemas.microsoft.com/office/powerpoint/2010/main" val="223702727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0</TotalTime>
  <Words>275</Words>
  <Application>Microsoft Office PowerPoint</Application>
  <PresentationFormat>Widescreen</PresentationFormat>
  <Paragraphs>24</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Times New Roman</vt:lpstr>
      <vt:lpstr>Trebuchet MS</vt:lpstr>
      <vt:lpstr>Wingdings 3</vt:lpstr>
      <vt:lpstr>Facet</vt:lpstr>
      <vt:lpstr>                     Non-Agile vs. Agile Methodologies</vt:lpstr>
      <vt:lpstr>    </vt:lpstr>
      <vt:lpstr>Key Characteristics:  Fixed scope and requirements at the beginning of the project. Limited flexibility for changes once the project is underway. Progress is measured at the end of each phase.</vt:lpstr>
      <vt:lpstr>Agile Methodology:  The agile methodology is an iterative and incremental approach to project management, particularly in software development. It focuses on flexibility, collaboration, and customer feedback, allowing teams to adapt to changes more easily.</vt:lpstr>
      <vt:lpstr>Key Characteristics:  Work is divided into smaller, manageable chunks called sprints or iterations. Continuous collaboration with stakeholders and frequent adjustments based on feedback. Emphasizes delivering functional software regularly, often every few weeks.</vt:lpstr>
      <vt:lpstr>Key Differences: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Bharat Sharma</dc:creator>
  <cp:lastModifiedBy>Bharat Sharma</cp:lastModifiedBy>
  <cp:revision>2</cp:revision>
  <dcterms:created xsi:type="dcterms:W3CDTF">2025-01-17T10:05:23Z</dcterms:created>
  <dcterms:modified xsi:type="dcterms:W3CDTF">2025-01-17T13:47:46Z</dcterms:modified>
</cp:coreProperties>
</file>