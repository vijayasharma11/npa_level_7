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BA0EA-D866-4050-9F95-442685B7A203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E2EE6-E58E-4149-BEF1-CB129A3D81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11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E2EE6-E58E-4149-BEF1-CB129A3D81B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617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F4C12-F049-201D-F2E4-45A7CF227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Agile Software Development Life Cycle (SDLC)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B5A42-24E5-60E9-140E-20D9D77A24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 rtl="0" eaLnBrk="1" latinLnBrk="0" hangingPunct="1">
              <a:spcBef>
                <a:spcPts val="768"/>
              </a:spcBef>
            </a:pPr>
            <a:r>
              <a:rPr lang="en-GB" sz="1800" kern="1200" dirty="0"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 Presentation on the Agile Model</a:t>
            </a:r>
            <a:endParaRPr lang="en-GB" dirty="0"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5522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A7BB3-A53E-FA1D-5409-479D38B0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Agile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2E00-8206-EEA6-C2C4-FDAA9C903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Agile is a group of methodologies for software development that prioritize flexibility, collaboration, and customer feedback.</a:t>
            </a:r>
          </a:p>
          <a:p>
            <a:r>
              <a:rPr lang="en-GB" dirty="0"/>
              <a:t>It emphasizes iterative progress through short cycles called sprints, typically lasting 2-4 weeks..</a:t>
            </a:r>
          </a:p>
          <a:p>
            <a:pPr marL="0" indent="0">
              <a:buNone/>
            </a:pPr>
            <a:r>
              <a:rPr lang="en-GB" b="1" dirty="0"/>
              <a:t>Agile Manifesto:</a:t>
            </a:r>
          </a:p>
          <a:p>
            <a:r>
              <a:rPr lang="en-GB" dirty="0"/>
              <a:t>Agile development focuses on individuals and interactions, working software, customer collaboration, and responding to change.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073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F881-6DF5-A386-33BD-D6ECD8D6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AEF0C-34AB-7B50-4EBB-C1532B378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Iterative and Incremental</a:t>
            </a:r>
            <a:r>
              <a:rPr lang="en-GB" dirty="0"/>
              <a:t>: Software is developed in small, incremental parts (called iterations or sprints).</a:t>
            </a:r>
          </a:p>
          <a:p>
            <a:r>
              <a:rPr lang="en-GB" b="1" dirty="0"/>
              <a:t>Collaboration</a:t>
            </a:r>
            <a:r>
              <a:rPr lang="en-GB" dirty="0"/>
              <a:t>: Close collaboration between developers and stakeholders.</a:t>
            </a:r>
          </a:p>
          <a:p>
            <a:r>
              <a:rPr lang="en-GB" b="1" dirty="0"/>
              <a:t>Customer Involvement: </a:t>
            </a:r>
            <a:r>
              <a:rPr lang="en-GB" dirty="0"/>
              <a:t>The customer is continuously involved throughout the development process.</a:t>
            </a:r>
          </a:p>
          <a:p>
            <a:r>
              <a:rPr lang="en-GB" b="1" dirty="0"/>
              <a:t>Responding to Change</a:t>
            </a:r>
            <a:r>
              <a:rPr lang="en-GB" dirty="0"/>
              <a:t>: Agile embraces change and adapts to evolving requirements.</a:t>
            </a:r>
          </a:p>
          <a:p>
            <a:r>
              <a:rPr lang="en-GB" b="1" dirty="0"/>
              <a:t>Continuous Delivery</a:t>
            </a:r>
            <a:r>
              <a:rPr lang="en-GB" dirty="0"/>
              <a:t>: Deliver small working parts of the system regularly.</a:t>
            </a:r>
          </a:p>
        </p:txBody>
      </p:sp>
    </p:spTree>
    <p:extLst>
      <p:ext uri="{BB962C8B-B14F-4D97-AF65-F5344CB8AC3E}">
        <p14:creationId xmlns:p14="http://schemas.microsoft.com/office/powerpoint/2010/main" val="2837371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1482-2231-D947-E01E-613FC6D27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the Agile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384F8-7BCF-39C2-32F8-5883BB1A9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61155"/>
            <a:ext cx="8915400" cy="4450067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Concept/Inception</a:t>
            </a:r>
            <a:r>
              <a:rPr lang="en-GB" dirty="0"/>
              <a:t>: Initial planning and gathering of high-level requirements.</a:t>
            </a:r>
          </a:p>
          <a:p>
            <a:pPr marL="0" indent="0">
              <a:buNone/>
            </a:pPr>
            <a:r>
              <a:rPr lang="en-GB" dirty="0"/>
              <a:t>     Team formation and setting of project vision and goals.</a:t>
            </a:r>
          </a:p>
          <a:p>
            <a:r>
              <a:rPr lang="en-GB" b="1" dirty="0"/>
              <a:t>Iteration/Increment Planning: </a:t>
            </a:r>
            <a:r>
              <a:rPr lang="en-GB" dirty="0"/>
              <a:t>Breaking the project into small, manageable chunks called sprints or iterations.</a:t>
            </a:r>
          </a:p>
          <a:p>
            <a:r>
              <a:rPr lang="en-GB" dirty="0"/>
              <a:t>Defining what features or parts of the software will be delivered at the end of each sprint.</a:t>
            </a:r>
          </a:p>
          <a:p>
            <a:r>
              <a:rPr lang="en-GB" b="1" dirty="0"/>
              <a:t>Design and Development: </a:t>
            </a:r>
            <a:r>
              <a:rPr lang="en-GB" dirty="0"/>
              <a:t>Design and coding occur iteratively within each sprint.</a:t>
            </a:r>
          </a:p>
          <a:p>
            <a:r>
              <a:rPr lang="en-GB" dirty="0"/>
              <a:t>Developers work closely with stakeholders to refine the product incrementally.</a:t>
            </a:r>
          </a:p>
          <a:p>
            <a:r>
              <a:rPr lang="en-GB" b="1" dirty="0"/>
              <a:t>Testing: </a:t>
            </a:r>
            <a:r>
              <a:rPr lang="en-GB" dirty="0"/>
              <a:t>Testing happens throughout the development process (i.e., test-driven development or continuous integration).</a:t>
            </a:r>
          </a:p>
          <a:p>
            <a:r>
              <a:rPr lang="en-GB" dirty="0"/>
              <a:t>Each increment is tested, and bugs are fixed as they appear.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3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6D27-2FC3-C9C4-94C7-CCA67C06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the Agile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A095C-D73F-FCE0-4C78-98D431F5E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Review and Retrospective: At</a:t>
            </a:r>
            <a:r>
              <a:rPr lang="en-GB" dirty="0"/>
              <a:t> the end of each sprint, the product 	increment is reviewed by stakeholders.</a:t>
            </a:r>
          </a:p>
          <a:p>
            <a:pPr marL="0" indent="0">
              <a:buNone/>
            </a:pPr>
            <a:r>
              <a:rPr lang="en-GB" dirty="0"/>
              <a:t>	A retrospective meeting is held to evaluate what went well, what didn’t, 	and how the process can be improved.</a:t>
            </a:r>
          </a:p>
          <a:p>
            <a:r>
              <a:rPr lang="en-GB" b="1" dirty="0"/>
              <a:t>Release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	After several sprints, the product is released to users.</a:t>
            </a:r>
          </a:p>
          <a:p>
            <a:pPr marL="0" indent="0">
              <a:buNone/>
            </a:pPr>
            <a:r>
              <a:rPr lang="en-GB" dirty="0"/>
              <a:t>	Any additional feedback from users is incorporated into future sprints</a:t>
            </a:r>
          </a:p>
        </p:txBody>
      </p:sp>
    </p:spTree>
    <p:extLst>
      <p:ext uri="{BB962C8B-B14F-4D97-AF65-F5344CB8AC3E}">
        <p14:creationId xmlns:p14="http://schemas.microsoft.com/office/powerpoint/2010/main" val="928371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4BF7-161E-CD75-B3B1-33DC326A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4623" y="624110"/>
            <a:ext cx="8911687" cy="1280890"/>
          </a:xfrm>
        </p:spPr>
        <p:txBody>
          <a:bodyPr/>
          <a:lstStyle/>
          <a:p>
            <a:r>
              <a:rPr lang="en-GB" dirty="0"/>
              <a:t>Agile Workflow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769-1A1C-49FD-9597-A2077E412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212425"/>
            <a:ext cx="6324934" cy="4537863"/>
          </a:xfrm>
        </p:spPr>
        <p:txBody>
          <a:bodyPr/>
          <a:lstStyle/>
          <a:p>
            <a:r>
              <a:rPr lang="en-GB" dirty="0"/>
              <a:t>.</a:t>
            </a:r>
          </a:p>
        </p:txBody>
      </p:sp>
      <p:pic>
        <p:nvPicPr>
          <p:cNvPr id="3080" name="Picture 8" descr="Agile Model - Definition, Phases, Types ...">
            <a:extLst>
              <a:ext uri="{FF2B5EF4-FFF2-40B4-BE49-F238E27FC236}">
                <a16:creationId xmlns:a16="http://schemas.microsoft.com/office/drawing/2014/main" id="{AF18239B-66C4-769E-AB89-278793BA3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711" y="1468733"/>
            <a:ext cx="5637229" cy="40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34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17FE-3736-1CC3-915A-756F1D27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the Agile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FC5F4-C91B-EB21-BCF8-2E4B6E344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Flexibility</a:t>
            </a:r>
            <a:r>
              <a:rPr lang="en-GB" dirty="0"/>
              <a:t>: Easy to adapt to changing requirements</a:t>
            </a:r>
          </a:p>
          <a:p>
            <a:r>
              <a:rPr lang="en-GB" b="1" dirty="0"/>
              <a:t>Customer Satisfaction</a:t>
            </a:r>
            <a:r>
              <a:rPr lang="en-GB" dirty="0"/>
              <a:t>: Regular feedback and frequent releases mean the final product aligns closely with customer needs.</a:t>
            </a:r>
          </a:p>
          <a:p>
            <a:r>
              <a:rPr lang="en-GB" b="1" dirty="0"/>
              <a:t>Faster Delivery</a:t>
            </a:r>
            <a:r>
              <a:rPr lang="en-GB" dirty="0"/>
              <a:t>: Software is delivered incrementally, speeding up the overall delivery time.</a:t>
            </a:r>
          </a:p>
          <a:p>
            <a:r>
              <a:rPr lang="en-GB" b="1" dirty="0"/>
              <a:t>Higher Quality</a:t>
            </a:r>
            <a:r>
              <a:rPr lang="en-GB" dirty="0"/>
              <a:t>: Continuous testing and feedback help identify issues early and improve the product quality.</a:t>
            </a:r>
          </a:p>
          <a:p>
            <a:r>
              <a:rPr lang="en-GB" b="1" dirty="0"/>
              <a:t>Collaboration</a:t>
            </a:r>
            <a:r>
              <a:rPr lang="en-GB" dirty="0"/>
              <a:t>: Close communication between developers, stakeholders, and customers improves project alignment.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8852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C147-607B-340E-5791-25D2C84F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of the Agile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FA314-CBAE-08D1-682C-8DFBC369A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Scope Creep</a:t>
            </a:r>
            <a:r>
              <a:rPr lang="en-GB" dirty="0"/>
              <a:t>: Continuous changes can lead to scope creep if not managed well.</a:t>
            </a:r>
          </a:p>
          <a:p>
            <a:r>
              <a:rPr lang="en-GB" b="1" dirty="0"/>
              <a:t>Requires Constant Communication</a:t>
            </a:r>
            <a:r>
              <a:rPr lang="en-GB" dirty="0"/>
              <a:t>: Agile needs frequent communication, which can be challenging in larger teams or with distributed teams.</a:t>
            </a:r>
          </a:p>
          <a:p>
            <a:r>
              <a:rPr lang="en-GB" b="1" dirty="0"/>
              <a:t>Documentation can be minimal</a:t>
            </a:r>
            <a:r>
              <a:rPr lang="en-GB" dirty="0"/>
              <a:t>: Agile emphasizes working software over documentation, which might lead to insufficient documentation for future teams.</a:t>
            </a:r>
          </a:p>
          <a:p>
            <a:r>
              <a:rPr lang="en-GB" b="1" dirty="0"/>
              <a:t>Difficult for large teams or projects</a:t>
            </a:r>
            <a:r>
              <a:rPr lang="en-GB" dirty="0"/>
              <a:t>: Scaling Agile to large teams or complex projects can be challenging.</a:t>
            </a:r>
          </a:p>
        </p:txBody>
      </p:sp>
    </p:spTree>
    <p:extLst>
      <p:ext uri="{BB962C8B-B14F-4D97-AF65-F5344CB8AC3E}">
        <p14:creationId xmlns:p14="http://schemas.microsoft.com/office/powerpoint/2010/main" val="55443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F4E6-554B-9B28-71A5-5EF013B4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Use the Agile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D2229-55E1-4BD0-C1B3-4CB9F890F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requirements are expected to change frequently.</a:t>
            </a:r>
          </a:p>
          <a:p>
            <a:r>
              <a:rPr lang="en-GB" dirty="0"/>
              <a:t>For projects that require quick delivery and flexibility</a:t>
            </a:r>
          </a:p>
          <a:p>
            <a:r>
              <a:rPr lang="en-GB" dirty="0"/>
              <a:t>In environments where the customer’s feedback is essential.</a:t>
            </a:r>
          </a:p>
          <a:p>
            <a:r>
              <a:rPr lang="en-GB" dirty="0"/>
              <a:t>When collaboration and communication between team members and stakeholders are vital.</a:t>
            </a:r>
          </a:p>
          <a:p>
            <a:r>
              <a:rPr lang="en-GB" dirty="0"/>
              <a:t>For smaller to medium-sized projects.</a:t>
            </a:r>
          </a:p>
        </p:txBody>
      </p:sp>
    </p:spTree>
    <p:extLst>
      <p:ext uri="{BB962C8B-B14F-4D97-AF65-F5344CB8AC3E}">
        <p14:creationId xmlns:p14="http://schemas.microsoft.com/office/powerpoint/2010/main" val="197469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3848-5E1B-D1A6-1FCC-D62C04A4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C06AC-CA5B-E47B-C818-E9DFC9A95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Scrum</a:t>
            </a:r>
            <a:r>
              <a:rPr lang="en-GB" dirty="0"/>
              <a:t>: A popular Agile framework that divides development into sprints and focuses on team collaboration, roles, and ceremonies like daily stand-ups.</a:t>
            </a:r>
          </a:p>
          <a:p>
            <a:r>
              <a:rPr lang="en-GB" b="1" dirty="0"/>
              <a:t>Kanban</a:t>
            </a:r>
            <a:r>
              <a:rPr lang="en-GB" dirty="0"/>
              <a:t>: Another Agile framework that focuses on continuous delivery and visualizing work using boards.</a:t>
            </a:r>
          </a:p>
          <a:p>
            <a:r>
              <a:rPr lang="en-GB" b="1" dirty="0"/>
              <a:t>Extreme Programming (XP)</a:t>
            </a:r>
            <a:r>
              <a:rPr lang="en-GB" dirty="0"/>
              <a:t>: Focuses on best coding practices, automated testing, and continuous integration.</a:t>
            </a:r>
          </a:p>
        </p:txBody>
      </p:sp>
    </p:spTree>
    <p:extLst>
      <p:ext uri="{BB962C8B-B14F-4D97-AF65-F5344CB8AC3E}">
        <p14:creationId xmlns:p14="http://schemas.microsoft.com/office/powerpoint/2010/main" val="142366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49AC-C273-A3BF-43C1-A41D58794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70889-C867-7FC4-5D21-B94314C03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Agile Model</a:t>
            </a:r>
            <a:r>
              <a:rPr lang="en-GB" dirty="0"/>
              <a:t> emphasizes flexibility, collaboration, and delivering working software frequently.</a:t>
            </a:r>
          </a:p>
          <a:p>
            <a:r>
              <a:rPr lang="en-GB" dirty="0"/>
              <a:t>It's ideal for projects where requirements evolve, and customer feedback is integral.</a:t>
            </a:r>
          </a:p>
          <a:p>
            <a:r>
              <a:rPr lang="en-GB" dirty="0" err="1"/>
              <a:t>Agile’s</a:t>
            </a:r>
            <a:r>
              <a:rPr lang="en-GB" dirty="0"/>
              <a:t> iterative approach ensures continuous improvement, quality,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6771277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654</Words>
  <Application>Microsoft Office PowerPoint</Application>
  <PresentationFormat>Widescreen</PresentationFormat>
  <Paragraphs>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Wisp</vt:lpstr>
      <vt:lpstr>Agile Software Development Life Cycle (SDLC)</vt:lpstr>
      <vt:lpstr>Introduction to Agile SDLC</vt:lpstr>
      <vt:lpstr>Key Principles of Agile</vt:lpstr>
      <vt:lpstr>Stages of the Agile Model</vt:lpstr>
      <vt:lpstr>Stages of the Agile Model</vt:lpstr>
      <vt:lpstr>Agile Workflow Diagram</vt:lpstr>
      <vt:lpstr>Advantages of the Agile Model</vt:lpstr>
      <vt:lpstr>Disadvantages of the Agile Model</vt:lpstr>
      <vt:lpstr>When to Use the Agile Model</vt:lpstr>
      <vt:lpstr>Agile Frameworks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 Sharma</dc:creator>
  <cp:lastModifiedBy>Bharat Sharma</cp:lastModifiedBy>
  <cp:revision>3</cp:revision>
  <dcterms:created xsi:type="dcterms:W3CDTF">2025-02-05T16:28:26Z</dcterms:created>
  <dcterms:modified xsi:type="dcterms:W3CDTF">2025-02-09T19:37:47Z</dcterms:modified>
</cp:coreProperties>
</file>